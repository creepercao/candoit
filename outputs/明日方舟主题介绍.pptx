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5482e235834762" /><Relationship Type="http://schemas.openxmlformats.org/officeDocument/2006/relationships/extended-properties" Target="/docProps/app.xml" Id="R2941968819f14b82" /><Relationship Type="http://schemas.openxmlformats.org/officeDocument/2006/relationships/officeDocument" Target="/ppt/presentation.xml" Id="Rda0fd993d65949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abcbba7490402d"/>
  </p:sldMasterIdLst>
  <p:notesMasterIdLst>
    <p:notesMasterId xmlns:r="http://schemas.openxmlformats.org/officeDocument/2006/relationships" r:id="Rc224324ae39945bc"/>
  </p:notesMasterIdLst>
  <p:sldIdLst>
    <p:sldId xmlns:r="http://schemas.openxmlformats.org/officeDocument/2006/relationships" id="256" r:id="R002163179a2a4d6f"/>
    <p:sldId xmlns:r="http://schemas.openxmlformats.org/officeDocument/2006/relationships" id="257" r:id="R143159b910ea4934"/>
    <p:sldId xmlns:r="http://schemas.openxmlformats.org/officeDocument/2006/relationships" id="258" r:id="Rfe6de66acca548a7"/>
    <p:sldId xmlns:r="http://schemas.openxmlformats.org/officeDocument/2006/relationships" id="259" r:id="Rf08c448a641546e3"/>
    <p:sldId xmlns:r="http://schemas.openxmlformats.org/officeDocument/2006/relationships" id="260" r:id="R856bff10628a4736"/>
    <p:sldId xmlns:r="http://schemas.openxmlformats.org/officeDocument/2006/relationships" id="261" r:id="Rbbfa327a4cd24272"/>
    <p:sldId xmlns:r="http://schemas.openxmlformats.org/officeDocument/2006/relationships" id="262" r:id="R386f4b97b75f413f"/>
    <p:sldId xmlns:r="http://schemas.openxmlformats.org/officeDocument/2006/relationships" id="263" r:id="R815cfa714aa644c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472281c6c44fb3" /><Relationship Type="http://schemas.openxmlformats.org/officeDocument/2006/relationships/slideMaster" Target="/ppt/slideMasters/slideMaster1.xml" Id="R22abcbba7490402d" /><Relationship Type="http://schemas.openxmlformats.org/officeDocument/2006/relationships/notesMaster" Target="/ppt/notesMasters/notesMaster1.xml" Id="Rc224324ae39945bc" /><Relationship Type="http://schemas.openxmlformats.org/officeDocument/2006/relationships/presProps" Target="/ppt/presProps.xml" Id="Rbbd94de048464151" /><Relationship Type="http://schemas.openxmlformats.org/officeDocument/2006/relationships/tableStyles" Target="/ppt/tableStyles.xml" Id="Rcc93a56c844940e1" /><Relationship Type="http://schemas.openxmlformats.org/officeDocument/2006/relationships/slide" Target="/ppt/slides/slide1.xml" Id="R002163179a2a4d6f" /><Relationship Type="http://schemas.openxmlformats.org/officeDocument/2006/relationships/slide" Target="/ppt/slides/slide2.xml" Id="R143159b910ea4934" /><Relationship Type="http://schemas.openxmlformats.org/officeDocument/2006/relationships/slide" Target="/ppt/slides/slide3.xml" Id="Rfe6de66acca548a7" /><Relationship Type="http://schemas.openxmlformats.org/officeDocument/2006/relationships/slide" Target="/ppt/slides/slide4.xml" Id="Rf08c448a641546e3" /><Relationship Type="http://schemas.openxmlformats.org/officeDocument/2006/relationships/slide" Target="/ppt/slides/slide5.xml" Id="R856bff10628a4736" /><Relationship Type="http://schemas.openxmlformats.org/officeDocument/2006/relationships/slide" Target="/ppt/slides/slide6.xml" Id="Rbbfa327a4cd24272" /><Relationship Type="http://schemas.openxmlformats.org/officeDocument/2006/relationships/slide" Target="/ppt/slides/slide7.xml" Id="R386f4b97b75f413f" /><Relationship Type="http://schemas.openxmlformats.org/officeDocument/2006/relationships/slide" Target="/ppt/slides/slide8.xml" Id="R815cfa714aa644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1a4d6ca32343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9ce55d844841bb" /><Relationship Type="http://schemas.openxmlformats.org/officeDocument/2006/relationships/notesMaster" Target="/ppt/notesMasters/notesMaster1.xml" Id="Racbc6a11246546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e0ff5dcf6c4144" /><Relationship Type="http://schemas.openxmlformats.org/officeDocument/2006/relationships/notesMaster" Target="/ppt/notesMasters/notesMaster1.xml" Id="Rf5aaadf494074c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0b907d72e6492e" /><Relationship Type="http://schemas.openxmlformats.org/officeDocument/2006/relationships/notesMaster" Target="/ppt/notesMasters/notesMaster1.xml" Id="Rb598c9e458a742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5b56f0d1784498" /><Relationship Type="http://schemas.openxmlformats.org/officeDocument/2006/relationships/notesMaster" Target="/ppt/notesMasters/notesMaster1.xml" Id="R584512b5a6424e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4ac17cb372432b" /><Relationship Type="http://schemas.openxmlformats.org/officeDocument/2006/relationships/notesMaster" Target="/ppt/notesMasters/notesMaster1.xml" Id="R1b5dcfb432f542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29c44b15cf4172" /><Relationship Type="http://schemas.openxmlformats.org/officeDocument/2006/relationships/notesMaster" Target="/ppt/notesMasters/notesMaster1.xml" Id="R400e5f0431b24f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29709bf5bc401d" /><Relationship Type="http://schemas.openxmlformats.org/officeDocument/2006/relationships/notesMaster" Target="/ppt/notesMasters/notesMaster1.xml" Id="R3054b525ba6046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9822eca62e42fb" /><Relationship Type="http://schemas.openxmlformats.org/officeDocument/2006/relationships/notesMaster" Target="/ppt/notesMasters/notesMaster1.xml" Id="Rc3f7aa320a5849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19498a8ef44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e7915023ed4580" /><Relationship Type="http://schemas.openxmlformats.org/officeDocument/2006/relationships/slideLayout" Target="/ppt/slideLayouts/slideLayout1.xml" Id="Rff9450ea1f0047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9450ea1f0047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6f257e1644b63" /><Relationship Type="http://schemas.openxmlformats.org/officeDocument/2006/relationships/notesSlide" Target="/ppt/notesSlides/notesSlide1.xml" Id="R86b9b1fec5234a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96bfeac5b4390" /><Relationship Type="http://schemas.openxmlformats.org/officeDocument/2006/relationships/notesSlide" Target="/ppt/notesSlides/notesSlide2.xml" Id="Rf759e62f015b48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ac6444d09401c" /><Relationship Type="http://schemas.openxmlformats.org/officeDocument/2006/relationships/notesSlide" Target="/ppt/notesSlides/notesSlide3.xml" Id="Rbd208634a0c242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751d69f1741e4" /><Relationship Type="http://schemas.openxmlformats.org/officeDocument/2006/relationships/notesSlide" Target="/ppt/notesSlides/notesSlide4.xml" Id="R98c36c53c31643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0db5b52c447cd" /><Relationship Type="http://schemas.openxmlformats.org/officeDocument/2006/relationships/notesSlide" Target="/ppt/notesSlides/notesSlide5.xml" Id="Rc1451492b6db41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0eea2b1ab4429" /><Relationship Type="http://schemas.openxmlformats.org/officeDocument/2006/relationships/notesSlide" Target="/ppt/notesSlides/notesSlide6.xml" Id="R6c4e2b23ee634e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ddd50965e426a" /><Relationship Type="http://schemas.openxmlformats.org/officeDocument/2006/relationships/notesSlide" Target="/ppt/notesSlides/notesSlide7.xml" Id="R8d9cceb0abe443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56c9df7ac4b79" /><Relationship Type="http://schemas.openxmlformats.org/officeDocument/2006/relationships/notesSlide" Target="/ppt/notesSlides/notesSlide8.xml" Id="Rb4cf627190b54e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op-progress">
            <a:extLst xmlns:a="http://schemas.openxmlformats.org/drawingml/2006/main">
              <a:ext uri="{FF2B5EF4-FFF2-40B4-BE49-F238E27FC236}">
                <a16:creationId xmlns:a16="http://schemas.microsoft.com/office/drawing/2014/main" id="{42113ED9-0286-4814-8886-FC0798E1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ile-code">
            <a:extLst xmlns:a="http://schemas.openxmlformats.org/drawingml/2006/main">
              <a:ext uri="{FF2B5EF4-FFF2-40B4-BE49-F238E27FC236}">
                <a16:creationId xmlns:a16="http://schemas.microsoft.com/office/drawing/2014/main" id="{80D0A00F-3787-45F2-AF9F-BD80D10B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66B"/>
                </a:solidFill>
              </a:defRPr>
            </a:pPr>
            <a:r>
              <a:rPr sz="825" b="1">
                <a:solidFill>
                  <a:srgbClr val="59666B"/>
                </a:solidFill>
              </a:rPr>
              <a:t>RHODES ISLAND / 00</a:t>
            </a:r>
          </a:p>
        </p:txBody>
      </p:sp>
      <p:sp>
        <p:nvSpPr>
          <p:cNvPr id="3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FCAD8A0F-C8DD-4252-AAA5-EB23B00C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EBF792A7-5351-40A8-B3AE-2B2FEA98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C542"/>
                </a:solidFill>
              </a:defRPr>
            </a:pPr>
            <a:r>
              <a:rPr sz="975" b="1">
                <a:solidFill>
                  <a:srgbClr val="F4C542"/>
                </a:solidFill>
              </a:rPr>
              <a:t>TERRA FIELD BRIEFING</a:t>
            </a:r>
          </a:p>
        </p:txBody>
      </p:sp>
      <p:sp>
        <p:nvSpPr>
          <p:cNvPr id="5" name="cover-title-1">
            <a:extLst xmlns:a="http://schemas.openxmlformats.org/drawingml/2006/main">
              <a:ext uri="{FF2B5EF4-FFF2-40B4-BE49-F238E27FC236}">
                <a16:creationId xmlns:a16="http://schemas.microsoft.com/office/drawing/2014/main" id="{1123ABD7-1B1F-4A7F-8958-D031BA77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EDF2F3"/>
                </a:solidFill>
              </a:defRPr>
            </a:pPr>
            <a:r>
              <a:rPr sz="5550" b="1">
                <a:solidFill>
                  <a:srgbClr val="EDF2F3"/>
                </a:solidFill>
              </a:rPr>
              <a:t>明日</a:t>
            </a:r>
          </a:p>
        </p:txBody>
      </p:sp>
      <p:sp>
        <p:nvSpPr>
          <p:cNvPr id="6" name="cover-title-2">
            <a:extLst xmlns:a="http://schemas.openxmlformats.org/drawingml/2006/main">
              <a:ext uri="{FF2B5EF4-FFF2-40B4-BE49-F238E27FC236}">
                <a16:creationId xmlns:a16="http://schemas.microsoft.com/office/drawing/2014/main" id="{EE00AF3D-7CEF-4D39-AC5B-1FC8F418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00" b="1">
                <a:solidFill>
                  <a:srgbClr val="F4C542"/>
                </a:solidFill>
              </a:defRPr>
            </a:pPr>
            <a:r>
              <a:rPr sz="6300" b="1">
                <a:solidFill>
                  <a:srgbClr val="F4C542"/>
                </a:solidFill>
              </a:rPr>
              <a:t>方舟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EE68C14-ED32-440F-B4B0-7654F0FB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9A5A9"/>
                </a:solidFill>
              </a:defRPr>
            </a:pPr>
            <a:r>
              <a:rPr sz="1575" b="0">
                <a:solidFill>
                  <a:srgbClr val="99A5A9"/>
                </a:solidFill>
              </a:rPr>
              <a:t>一艘陆行舰，一群感染者，以及在天灾阴影下仍然选择前进的人。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D238BD3-1BC7-4A05-BDA0-A4E6D821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DF2F3"/>
                </a:solidFill>
              </a:defRPr>
            </a:pPr>
            <a:r>
              <a:rPr sz="1125" b="1">
                <a:solidFill>
                  <a:srgbClr val="EDF2F3"/>
                </a:solidFill>
              </a:rPr>
              <a:t>世界观   ·   策略塔防   ·   群像叙事</a:t>
            </a:r>
          </a:p>
        </p:txBody>
      </p:sp>
      <p:sp>
        <p:nvSpPr>
          <p:cNvPr id="9" name="rhodes-diamond">
            <a:extLst xmlns:a="http://schemas.openxmlformats.org/drawingml/2006/main">
              <a:ext uri="{FF2B5EF4-FFF2-40B4-BE49-F238E27FC236}">
                <a16:creationId xmlns:a16="http://schemas.microsoft.com/office/drawing/2014/main" id="{3BF56F81-683A-4D5B-B660-AED6A3A8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38250"/>
            <a:ext cx="2857500" cy="2857500"/>
          </a:xfrm>
          <a:prstGeom xmlns:a="http://schemas.openxmlformats.org/drawingml/2006/main" prst="diamond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4C542"/>
            </a:solidFill>
            <a:prstDash val="solid"/>
          </a:ln>
        </p:spPr>
      </p:sp>
      <p:sp>
        <p:nvSpPr>
          <p:cNvPr id="10" name="rhodes-triangle">
            <a:extLst xmlns:a="http://schemas.openxmlformats.org/drawingml/2006/main">
              <a:ext uri="{FF2B5EF4-FFF2-40B4-BE49-F238E27FC236}">
                <a16:creationId xmlns:a16="http://schemas.microsoft.com/office/drawing/2014/main" id="{6E464796-A322-4D66-9FE0-EC2E54D3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71625"/>
            <a:ext cx="2381250" cy="2381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hodes-cutout">
            <a:extLst xmlns:a="http://schemas.openxmlformats.org/drawingml/2006/main">
              <a:ext uri="{FF2B5EF4-FFF2-40B4-BE49-F238E27FC236}">
                <a16:creationId xmlns:a16="http://schemas.microsoft.com/office/drawing/2014/main" id="{3767A24D-F2DB-4501-A3B5-E7D6BB12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1790700" cy="17621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0B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hodes-slash">
            <a:extLst xmlns:a="http://schemas.openxmlformats.org/drawingml/2006/main">
              <a:ext uri="{FF2B5EF4-FFF2-40B4-BE49-F238E27FC236}">
                <a16:creationId xmlns:a16="http://schemas.microsoft.com/office/drawing/2014/main" id="{145C64FB-2E45-4F9B-89A1-BC85D397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0000">
            <a:off x="6953250" y="2781300"/>
            <a:ext cx="409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F21C6C-AD9F-4B77-AF8D-6349A100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C542"/>
                </a:solidFill>
              </a:defRPr>
            </a:pPr>
            <a:r>
              <a:rPr sz="1050" b="1">
                <a:solidFill>
                  <a:srgbClr val="F4C542"/>
                </a:solidFill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8756052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progress">
            <a:extLst xmlns:a="http://schemas.openxmlformats.org/drawingml/2006/main">
              <a:ext uri="{FF2B5EF4-FFF2-40B4-BE49-F238E27FC236}">
                <a16:creationId xmlns:a16="http://schemas.microsoft.com/office/drawing/2014/main" id="{7E50612C-C876-48B0-88C8-13B500D2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ile-code">
            <a:extLst xmlns:a="http://schemas.openxmlformats.org/drawingml/2006/main">
              <a:ext uri="{FF2B5EF4-FFF2-40B4-BE49-F238E27FC236}">
                <a16:creationId xmlns:a16="http://schemas.microsoft.com/office/drawing/2014/main" id="{55BC696C-8407-46D5-8CDA-3BD03E00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66B"/>
                </a:solidFill>
              </a:defRPr>
            </a:pPr>
            <a:r>
              <a:rPr sz="825" b="1">
                <a:solidFill>
                  <a:srgbClr val="59666B"/>
                </a:solidFill>
              </a:rPr>
              <a:t>FILE / 01</a:t>
            </a:r>
          </a:p>
        </p:txBody>
      </p:sp>
      <p:sp>
        <p:nvSpPr>
          <p:cNvPr id="3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8E778D0A-0B4F-45EB-BEE0-3F8BD97A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19870CC-6BA4-440C-B3D9-4BF3A0B7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C542"/>
                </a:solidFill>
              </a:defRPr>
            </a:pPr>
            <a:r>
              <a:rPr sz="975" b="1">
                <a:solidFill>
                  <a:srgbClr val="F4C542"/>
                </a:solidFill>
              </a:rPr>
              <a:t>MISSION PROFILE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6239EFF-272C-486F-A7D9-514C7BAB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DF2F3"/>
                </a:solidFill>
              </a:defRPr>
            </a:pPr>
            <a:r>
              <a:rPr sz="3900" b="1">
                <a:solidFill>
                  <a:srgbClr val="EDF2F3"/>
                </a:solidFill>
              </a:rPr>
              <a:t>它不只是一款</a:t>
            </a:r>
          </a:p>
          <a:p xmlns:a="http://schemas.openxmlformats.org/drawingml/2006/main">
            <a:pPr algn="l">
              <a:defRPr sz="3900" b="1">
                <a:solidFill>
                  <a:srgbClr val="EDF2F3"/>
                </a:solidFill>
              </a:defRPr>
            </a:pPr>
            <a:r>
              <a:rPr sz="3900" b="1">
                <a:solidFill>
                  <a:srgbClr val="EDF2F3"/>
                </a:solidFill>
              </a:rPr>
              <a:t>塔防游戏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D87BCA1-72FF-4A56-AF47-76EC5BCB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9A5A9"/>
                </a:solidFill>
              </a:defRPr>
            </a:pPr>
            <a:r>
              <a:rPr sz="1575" b="0">
                <a:solidFill>
                  <a:srgbClr val="99A5A9"/>
                </a:solidFill>
              </a:rPr>
              <a:t>干员养成、格子策略与长线世界观叙事，被放进同一套行动框架。玩家以“博士”的身份，在信息不完整的战场上做出选择。</a:t>
            </a:r>
          </a:p>
        </p:txBody>
      </p:sp>
      <p:sp>
        <p:nvSpPr>
          <p:cNvPr id="7" name="card-0">
            <a:extLst xmlns:a="http://schemas.openxmlformats.org/drawingml/2006/main">
              <a:ext uri="{FF2B5EF4-FFF2-40B4-BE49-F238E27FC236}">
                <a16:creationId xmlns:a16="http://schemas.microsoft.com/office/drawing/2014/main" id="{E8A9A2C6-49A6-4BF6-895F-22516D1E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E9CCC17E-49A4-4539-A5EE-1408A0DE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382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8FE8D90-0184-4C6A-84AF-FF336C1B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352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26068"/>
                </a:solidFill>
              </a:defRPr>
            </a:pPr>
            <a:r>
              <a:rPr sz="1650" b="1">
                <a:solidFill>
                  <a:srgbClr val="526068"/>
                </a:solidFill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0639C5D-8877-46F4-95E8-C8F4AB68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F2F3"/>
                </a:solidFill>
              </a:defRPr>
            </a:pPr>
            <a:r>
              <a:rPr sz="1875" b="1">
                <a:solidFill>
                  <a:srgbClr val="EDF2F3"/>
                </a:solidFill>
              </a:rPr>
              <a:t>部署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1061AD9-FFA1-487C-8973-EF0F2F29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6217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9A5A9"/>
                </a:solidFill>
              </a:defRPr>
            </a:pPr>
            <a:r>
              <a:rPr sz="1125" b="0">
                <a:solidFill>
                  <a:srgbClr val="99A5A9"/>
                </a:solidFill>
              </a:rPr>
              <a:t>费用、朝向、阻挡与攻击范围塑造阵线。</a:t>
            </a:r>
          </a:p>
        </p:txBody>
      </p:sp>
      <p:sp>
        <p:nvSpPr>
          <p:cNvPr id="12" name="card-1">
            <a:extLst xmlns:a="http://schemas.openxmlformats.org/drawingml/2006/main">
              <a:ext uri="{FF2B5EF4-FFF2-40B4-BE49-F238E27FC236}">
                <a16:creationId xmlns:a16="http://schemas.microsoft.com/office/drawing/2014/main" id="{059796CE-D6BF-4936-BE3E-1DDE90EC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80F7B473-BA9C-4D7E-9BE4-407F3B73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CE7EB62-0EE8-4B36-9125-F71376EC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1352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26068"/>
                </a:solidFill>
              </a:defRPr>
            </a:pPr>
            <a:r>
              <a:rPr sz="1650" b="1">
                <a:solidFill>
                  <a:srgbClr val="526068"/>
                </a:solidFill>
              </a:rPr>
              <a:t>02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24EA67A-DD97-4076-BB00-1EDFD4CA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764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F2F3"/>
                </a:solidFill>
              </a:defRPr>
            </a:pPr>
            <a:r>
              <a:rPr sz="1875" b="1">
                <a:solidFill>
                  <a:srgbClr val="EDF2F3"/>
                </a:solidFill>
              </a:rPr>
              <a:t>判断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93866CD-585A-4EFA-96A4-5626C7BE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6217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9A5A9"/>
                </a:solidFill>
              </a:defRPr>
            </a:pPr>
            <a:r>
              <a:rPr sz="1125" b="0">
                <a:solidFill>
                  <a:srgbClr val="99A5A9"/>
                </a:solidFill>
              </a:rPr>
              <a:t>路线与波次变化让地图成为动态谜题。</a:t>
            </a:r>
          </a:p>
        </p:txBody>
      </p:sp>
      <p:sp>
        <p:nvSpPr>
          <p:cNvPr id="17" name="card-2">
            <a:extLst xmlns:a="http://schemas.openxmlformats.org/drawingml/2006/main">
              <a:ext uri="{FF2B5EF4-FFF2-40B4-BE49-F238E27FC236}">
                <a16:creationId xmlns:a16="http://schemas.microsoft.com/office/drawing/2014/main" id="{234DE971-56EB-41C6-85B6-778A048D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572004AB-CAD8-4705-9646-9DFAD315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7278BD3-A59E-4528-BAC6-06AEC7D7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48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26068"/>
                </a:solidFill>
              </a:defRPr>
            </a:pPr>
            <a:r>
              <a:rPr sz="1650" b="1">
                <a:solidFill>
                  <a:srgbClr val="526068"/>
                </a:solidFill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773BE56-4659-403F-83F3-AD7C31F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719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F2F3"/>
                </a:solidFill>
              </a:defRPr>
            </a:pPr>
            <a:r>
              <a:rPr sz="1875" b="1">
                <a:solidFill>
                  <a:srgbClr val="EDF2F3"/>
                </a:solidFill>
              </a:rPr>
              <a:t>养成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73BB511-7DDD-4FA1-9A17-2DD39EF1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5767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9A5A9"/>
                </a:solidFill>
              </a:defRPr>
            </a:pPr>
            <a:r>
              <a:rPr sz="1125" b="0">
                <a:solidFill>
                  <a:srgbClr val="99A5A9"/>
                </a:solidFill>
              </a:rPr>
              <a:t>职业和技能组合形成多种解题路径。</a:t>
            </a:r>
          </a:p>
        </p:txBody>
      </p:sp>
      <p:sp>
        <p:nvSpPr>
          <p:cNvPr id="22" name="card-3">
            <a:extLst xmlns:a="http://schemas.openxmlformats.org/drawingml/2006/main">
              <a:ext uri="{FF2B5EF4-FFF2-40B4-BE49-F238E27FC236}">
                <a16:creationId xmlns:a16="http://schemas.microsoft.com/office/drawing/2014/main" id="{4341729A-1F78-43E6-8694-C40B86D8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238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23" name="shape">
            <a:extLst xmlns:a="http://schemas.openxmlformats.org/drawingml/2006/main">
              <a:ext uri="{FF2B5EF4-FFF2-40B4-BE49-F238E27FC236}">
                <a16:creationId xmlns:a16="http://schemas.microsoft.com/office/drawing/2014/main" id="{FE85DC9D-6783-45A1-854C-DB17E08A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9FE1247-17ED-4AEE-BFC4-8A435D66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48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26068"/>
                </a:solidFill>
              </a:defRPr>
            </a:pPr>
            <a:r>
              <a:rPr sz="1650" b="1">
                <a:solidFill>
                  <a:srgbClr val="526068"/>
                </a:solidFill>
              </a:rPr>
              <a:t>04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644C1B1-3354-4F99-BA20-CCE72885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7190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DF2F3"/>
                </a:solidFill>
              </a:defRPr>
            </a:pPr>
            <a:r>
              <a:rPr sz="1875" b="1">
                <a:solidFill>
                  <a:srgbClr val="EDF2F3"/>
                </a:solidFill>
              </a:rPr>
              <a:t>叙事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9891FFB-0A05-4D57-B742-7655E3F0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57675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9A5A9"/>
                </a:solidFill>
              </a:defRPr>
            </a:pPr>
            <a:r>
              <a:rPr sz="1125" b="0">
                <a:solidFill>
                  <a:srgbClr val="99A5A9"/>
                </a:solidFill>
              </a:rPr>
              <a:t>个人选择与文明冲突在档案中展开。</a:t>
            </a:r>
          </a:p>
        </p:txBody>
      </p:sp>
      <p:sp>
        <p:nvSpPr>
          <p:cNvPr id="2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7B7AB7B-3A56-4CD3-928A-5AF89867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C542"/>
                </a:solidFill>
              </a:defRPr>
            </a:pPr>
            <a:r>
              <a:rPr sz="1050" b="1">
                <a:solidFill>
                  <a:srgbClr val="F4C542"/>
                </a:solidFill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1481597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op-progress">
            <a:extLst xmlns:a="http://schemas.openxmlformats.org/drawingml/2006/main">
              <a:ext uri="{FF2B5EF4-FFF2-40B4-BE49-F238E27FC236}">
                <a16:creationId xmlns:a16="http://schemas.microsoft.com/office/drawing/2014/main" id="{7C5E99B0-BBA2-423E-8883-82AE0FBE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ile-code">
            <a:extLst xmlns:a="http://schemas.openxmlformats.org/drawingml/2006/main">
              <a:ext uri="{FF2B5EF4-FFF2-40B4-BE49-F238E27FC236}">
                <a16:creationId xmlns:a16="http://schemas.microsoft.com/office/drawing/2014/main" id="{D9B03FA1-C807-4AD4-9B4A-26D67FCE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66B"/>
                </a:solidFill>
              </a:defRPr>
            </a:pPr>
            <a:r>
              <a:rPr sz="825" b="1">
                <a:solidFill>
                  <a:srgbClr val="59666B"/>
                </a:solidFill>
              </a:rPr>
              <a:t>TERRA / 02</a:t>
            </a:r>
          </a:p>
        </p:txBody>
      </p:sp>
      <p:sp>
        <p:nvSpPr>
          <p:cNvPr id="3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61025F02-D311-4D60-89CF-46DCBED1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D67E010C-DDEB-4463-91C5-5B100607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C542"/>
                </a:solidFill>
              </a:defRPr>
            </a:pPr>
            <a:r>
              <a:rPr sz="975" b="1">
                <a:solidFill>
                  <a:srgbClr val="F4C542"/>
                </a:solidFill>
              </a:rPr>
              <a:t>WORLD SYSTEM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200C452-B247-4260-B0BE-DF84DF44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DF2F3"/>
                </a:solidFill>
              </a:defRPr>
            </a:pPr>
            <a:r>
              <a:rPr sz="3900" b="1">
                <a:solidFill>
                  <a:srgbClr val="EDF2F3"/>
                </a:solidFill>
              </a:rPr>
              <a:t>泰拉：</a:t>
            </a:r>
          </a:p>
          <a:p xmlns:a="http://schemas.openxmlformats.org/drawingml/2006/main">
            <a:pPr algn="l">
              <a:defRPr sz="3900" b="1">
                <a:solidFill>
                  <a:srgbClr val="EDF2F3"/>
                </a:solidFill>
              </a:defRPr>
            </a:pPr>
            <a:r>
              <a:rPr sz="3900" b="1">
                <a:solidFill>
                  <a:srgbClr val="EDF2F3"/>
                </a:solidFill>
              </a:rPr>
              <a:t>移动的文明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7B8FD8E-2721-4AF0-ACB7-613D72E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9A5A9"/>
                </a:solidFill>
              </a:defRPr>
            </a:pPr>
            <a:r>
              <a:rPr sz="1575" b="0">
                <a:solidFill>
                  <a:srgbClr val="99A5A9"/>
                </a:solidFill>
              </a:rPr>
              <a:t>天灾迫使城市迁徙；源石推动工业，也带来感染。国家、商会、军队与民间组织，在资源与生存之间不断碰撞。</a:t>
            </a:r>
          </a:p>
        </p:txBody>
      </p:sp>
      <p:sp>
        <p:nvSpPr>
          <p:cNvPr id="7" name="map-frame">
            <a:extLst xmlns:a="http://schemas.openxmlformats.org/drawingml/2006/main">
              <a:ext uri="{FF2B5EF4-FFF2-40B4-BE49-F238E27FC236}">
                <a16:creationId xmlns:a16="http://schemas.microsoft.com/office/drawing/2014/main" id="{1893DBDA-67C3-4C26-9D38-232DF23B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49530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1A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111E313C-6AE3-4B36-9F18-2DF9A1A2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3350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EC1A25CE-19AA-400C-B738-9D111BDE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33350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99D1D00A-BC78-428E-A641-8F2B0828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3350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8881B9BE-D7FB-487E-BEC5-846D453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33350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BBB95476-F1C9-4C5C-9C49-30D347A1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33350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5B1FE691-910C-49BF-B27C-73267C09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3350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5523840C-BCBC-44C1-AF53-E74EE0DD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33350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15" name="shape">
            <a:extLst xmlns:a="http://schemas.openxmlformats.org/drawingml/2006/main">
              <a:ext uri="{FF2B5EF4-FFF2-40B4-BE49-F238E27FC236}">
                <a16:creationId xmlns:a16="http://schemas.microsoft.com/office/drawing/2014/main" id="{E62A56F0-E1BB-4B2C-B5F7-D872DF30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33350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07C9410E-852C-4DF1-BF6F-59F0BDC1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33350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D96DF392-E3CA-4CD3-8ABF-8748F07F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33350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F5C02693-992A-4036-886A-F04ABA20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47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FC940D4F-0769-4CCB-9F80-0E814CD6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47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0FB13E98-B35F-4361-9F00-505134AA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447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816267AA-365E-4C50-81F1-3194D04D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447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22" name="shape">
            <a:extLst xmlns:a="http://schemas.openxmlformats.org/drawingml/2006/main">
              <a:ext uri="{FF2B5EF4-FFF2-40B4-BE49-F238E27FC236}">
                <a16:creationId xmlns:a16="http://schemas.microsoft.com/office/drawing/2014/main" id="{53BD1C6B-E768-47AF-B636-7D80D60D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57550"/>
            <a:ext cx="447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23" name="shape">
            <a:extLst xmlns:a="http://schemas.openxmlformats.org/drawingml/2006/main">
              <a:ext uri="{FF2B5EF4-FFF2-40B4-BE49-F238E27FC236}">
                <a16:creationId xmlns:a16="http://schemas.microsoft.com/office/drawing/2014/main" id="{6FD7AEF9-197F-4318-AF2B-0C5BC7C3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47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D0298046-D4E0-48FA-8A2C-5817D4C2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447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25" name="shape">
            <a:extLst xmlns:a="http://schemas.openxmlformats.org/drawingml/2006/main">
              <a:ext uri="{FF2B5EF4-FFF2-40B4-BE49-F238E27FC236}">
                <a16:creationId xmlns:a16="http://schemas.microsoft.com/office/drawing/2014/main" id="{C8664C0D-ABEC-494D-975C-7A099D17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29150"/>
            <a:ext cx="447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26" name="shape">
            <a:extLst xmlns:a="http://schemas.openxmlformats.org/drawingml/2006/main">
              <a:ext uri="{FF2B5EF4-FFF2-40B4-BE49-F238E27FC236}">
                <a16:creationId xmlns:a16="http://schemas.microsoft.com/office/drawing/2014/main" id="{5B788EA5-3ACB-4C7D-9CAD-5834FBED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86350"/>
            <a:ext cx="447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3036"/>
            </a:solidFill>
            <a:prstDash val="solid"/>
          </a:ln>
        </p:spPr>
      </p:sp>
      <p:sp>
        <p:nvSpPr>
          <p:cNvPr id="27" name="terra-landmass">
            <a:extLst xmlns:a="http://schemas.openxmlformats.org/drawingml/2006/main">
              <a:ext uri="{FF2B5EF4-FFF2-40B4-BE49-F238E27FC236}">
                <a16:creationId xmlns:a16="http://schemas.microsoft.com/office/drawing/2014/main" id="{429DFCDC-77B6-45DC-9D8E-3907045E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3333750" cy="2476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hape">
            <a:extLst xmlns:a="http://schemas.openxmlformats.org/drawingml/2006/main">
              <a:ext uri="{FF2B5EF4-FFF2-40B4-BE49-F238E27FC236}">
                <a16:creationId xmlns:a16="http://schemas.microsoft.com/office/drawing/2014/main" id="{538DBDB2-F878-4A52-9871-F53F7529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03D2F25-5B7D-44F3-998C-68B21F80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F2F3"/>
                </a:solidFill>
              </a:defRPr>
            </a:pPr>
            <a:r>
              <a:rPr sz="975" b="1">
                <a:solidFill>
                  <a:srgbClr val="EDF2F3"/>
                </a:solidFill>
              </a:rPr>
              <a:t>卡西米尔</a:t>
            </a:r>
          </a:p>
        </p:txBody>
      </p:sp>
      <p:sp>
        <p:nvSpPr>
          <p:cNvPr id="30" name="shape">
            <a:extLst xmlns:a="http://schemas.openxmlformats.org/drawingml/2006/main">
              <a:ext uri="{FF2B5EF4-FFF2-40B4-BE49-F238E27FC236}">
                <a16:creationId xmlns:a16="http://schemas.microsoft.com/office/drawing/2014/main" id="{3709AEBC-B247-4CAE-B82F-D56667FB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478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8D501AC2-AE42-457A-9551-AEF5C4A9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00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F2F3"/>
                </a:solidFill>
              </a:defRPr>
            </a:pPr>
            <a:r>
              <a:rPr sz="975" b="1">
                <a:solidFill>
                  <a:srgbClr val="EDF2F3"/>
                </a:solidFill>
              </a:rPr>
              <a:t>乌萨斯</a:t>
            </a:r>
          </a:p>
        </p:txBody>
      </p:sp>
      <p:sp>
        <p:nvSpPr>
          <p:cNvPr id="32" name="shape">
            <a:extLst xmlns:a="http://schemas.openxmlformats.org/drawingml/2006/main">
              <a:ext uri="{FF2B5EF4-FFF2-40B4-BE49-F238E27FC236}">
                <a16:creationId xmlns:a16="http://schemas.microsoft.com/office/drawing/2014/main" id="{B6849173-CBBB-4675-92EB-68E5722B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47662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7A2D4C1-3858-4BB0-A459-4B214017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2900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F2F3"/>
                </a:solidFill>
              </a:defRPr>
            </a:pPr>
            <a:r>
              <a:rPr sz="975" b="1">
                <a:solidFill>
                  <a:srgbClr val="EDF2F3"/>
                </a:solidFill>
              </a:rPr>
              <a:t>龙门</a:t>
            </a:r>
          </a:p>
        </p:txBody>
      </p:sp>
      <p:sp>
        <p:nvSpPr>
          <p:cNvPr id="34" name="shape">
            <a:extLst xmlns:a="http://schemas.openxmlformats.org/drawingml/2006/main">
              <a:ext uri="{FF2B5EF4-FFF2-40B4-BE49-F238E27FC236}">
                <a16:creationId xmlns:a16="http://schemas.microsoft.com/office/drawing/2014/main" id="{BDD5CC5D-0D93-46EB-8E50-6ADC8882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7DA2C52-0098-4DD9-8AD8-F140F6D0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DF2F3"/>
                </a:solidFill>
              </a:defRPr>
            </a:pPr>
            <a:r>
              <a:rPr sz="975" b="1">
                <a:solidFill>
                  <a:srgbClr val="EDF2F3"/>
                </a:solidFill>
              </a:rPr>
              <a:t>维多利亚</a:t>
            </a:r>
          </a:p>
        </p:txBody>
      </p:sp>
      <p:sp>
        <p:nvSpPr>
          <p:cNvPr id="3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E9F13E-52F8-4E31-A349-C23E8581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C542"/>
                </a:solidFill>
              </a:defRPr>
            </a:pPr>
            <a:r>
              <a:rPr sz="1050" b="1">
                <a:solidFill>
                  <a:srgbClr val="F4C542"/>
                </a:solidFill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6387758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progress">
            <a:extLst xmlns:a="http://schemas.openxmlformats.org/drawingml/2006/main">
              <a:ext uri="{FF2B5EF4-FFF2-40B4-BE49-F238E27FC236}">
                <a16:creationId xmlns:a16="http://schemas.microsoft.com/office/drawing/2014/main" id="{5A168A31-CED1-49AA-A97C-B244B99E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ile-code">
            <a:extLst xmlns:a="http://schemas.openxmlformats.org/drawingml/2006/main">
              <a:ext uri="{FF2B5EF4-FFF2-40B4-BE49-F238E27FC236}">
                <a16:creationId xmlns:a16="http://schemas.microsoft.com/office/drawing/2014/main" id="{40C98D68-4DE4-42B9-96D5-6D980480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66B"/>
                </a:solidFill>
              </a:defRPr>
            </a:pPr>
            <a:r>
              <a:rPr sz="825" b="1">
                <a:solidFill>
                  <a:srgbClr val="59666B"/>
                </a:solidFill>
              </a:rPr>
              <a:t>RHODES / 03</a:t>
            </a:r>
          </a:p>
        </p:txBody>
      </p:sp>
      <p:sp>
        <p:nvSpPr>
          <p:cNvPr id="3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03162800-EB75-474E-A366-9A4C60B2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A959E52F-77C9-4E6A-B4F2-C133B702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C542"/>
                </a:solidFill>
              </a:defRPr>
            </a:pPr>
            <a:r>
              <a:rPr sz="975" b="1">
                <a:solidFill>
                  <a:srgbClr val="F4C542"/>
                </a:solidFill>
              </a:rPr>
              <a:t>ORGANIZATION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A6F4422-4F7A-45F4-B8DE-6EA68823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DF2F3"/>
                </a:solidFill>
              </a:defRPr>
            </a:pPr>
            <a:r>
              <a:rPr sz="3900" b="1">
                <a:solidFill>
                  <a:srgbClr val="EDF2F3"/>
                </a:solidFill>
              </a:rPr>
              <a:t>罗德岛：</a:t>
            </a:r>
          </a:p>
          <a:p xmlns:a="http://schemas.openxmlformats.org/drawingml/2006/main">
            <a:pPr algn="l">
              <a:defRPr sz="3900" b="1">
                <a:solidFill>
                  <a:srgbClr val="EDF2F3"/>
                </a:solidFill>
              </a:defRPr>
            </a:pPr>
            <a:r>
              <a:rPr sz="3900" b="1">
                <a:solidFill>
                  <a:srgbClr val="EDF2F3"/>
                </a:solidFill>
              </a:rPr>
              <a:t>在夹缝中行动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CC102A5-32B1-4895-83A8-0FB9DC54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9A5A9"/>
                </a:solidFill>
              </a:defRPr>
            </a:pPr>
            <a:r>
              <a:rPr sz="1575" b="0">
                <a:solidFill>
                  <a:srgbClr val="99A5A9"/>
                </a:solidFill>
              </a:rPr>
              <a:t>表面是制药企业，实际承担治疗研究、救援行动与武装护卫。它并不天然正确，但始终尝试为感染者争取另一种可能。</a:t>
            </a:r>
          </a:p>
        </p:txBody>
      </p:sp>
      <p:sp>
        <p:nvSpPr>
          <p:cNvPr id="7" name="outer-orbit">
            <a:extLst xmlns:a="http://schemas.openxmlformats.org/drawingml/2006/main">
              <a:ext uri="{FF2B5EF4-FFF2-40B4-BE49-F238E27FC236}">
                <a16:creationId xmlns:a16="http://schemas.microsoft.com/office/drawing/2014/main" id="{4337A5B4-B599-4BA3-9AE7-C7E69BD0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43000"/>
            <a:ext cx="3905250" cy="3905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168"/>
            </a:solidFill>
            <a:prstDash val="dash"/>
          </a:ln>
        </p:spPr>
      </p:sp>
      <p:sp>
        <p:nvSpPr>
          <p:cNvPr id="8" name="inner-orbit">
            <a:extLst xmlns:a="http://schemas.openxmlformats.org/drawingml/2006/main">
              <a:ext uri="{FF2B5EF4-FFF2-40B4-BE49-F238E27FC236}">
                <a16:creationId xmlns:a16="http://schemas.microsoft.com/office/drawing/2014/main" id="{80DC7A10-77AB-4B63-8E24-E18A7DA8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2571750" cy="2571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26168"/>
            </a:solidFill>
            <a:prstDash val="dash"/>
          </a:ln>
        </p:spPr>
      </p:sp>
      <p:sp>
        <p:nvSpPr>
          <p:cNvPr id="9" name="core">
            <a:extLst xmlns:a="http://schemas.openxmlformats.org/drawingml/2006/main">
              <a:ext uri="{FF2B5EF4-FFF2-40B4-BE49-F238E27FC236}">
                <a16:creationId xmlns:a16="http://schemas.microsoft.com/office/drawing/2014/main" id="{CD427074-0154-4652-BD84-24188BFF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1619250" cy="16192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19050">
            <a:solidFill>
              <a:srgbClr val="F4C542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4EAEA22-D4BC-46CA-9403-32DA22F1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051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DF2F3"/>
                </a:solidFill>
              </a:defRPr>
            </a:pPr>
            <a:r>
              <a:rPr sz="1875" b="1">
                <a:solidFill>
                  <a:srgbClr val="EDF2F3"/>
                </a:solidFill>
              </a:rPr>
              <a:t>罗德岛</a:t>
            </a:r>
          </a:p>
        </p:txBody>
      </p:sp>
      <p:sp>
        <p:nvSpPr>
          <p:cNvPr id="11" name="node-0">
            <a:extLst xmlns:a="http://schemas.openxmlformats.org/drawingml/2006/main">
              <a:ext uri="{FF2B5EF4-FFF2-40B4-BE49-F238E27FC236}">
                <a16:creationId xmlns:a16="http://schemas.microsoft.com/office/drawing/2014/main" id="{EBE8313C-565D-43EB-9C4A-EE590E3D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430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618B993-974D-410D-8B91-E3D75ADC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247775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2F3"/>
                </a:solidFill>
              </a:defRPr>
            </a:pPr>
            <a:r>
              <a:rPr sz="1125" b="1">
                <a:solidFill>
                  <a:srgbClr val="EDF2F3"/>
                </a:solidFill>
              </a:rPr>
              <a:t>医疗研究</a:t>
            </a:r>
          </a:p>
        </p:txBody>
      </p:sp>
      <p:sp>
        <p:nvSpPr>
          <p:cNvPr id="13" name="node-1">
            <a:extLst xmlns:a="http://schemas.openxmlformats.org/drawingml/2006/main">
              <a:ext uri="{FF2B5EF4-FFF2-40B4-BE49-F238E27FC236}">
                <a16:creationId xmlns:a16="http://schemas.microsoft.com/office/drawing/2014/main" id="{347C6BE5-273E-4E43-A2A5-44AEC900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6687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6B2CA98-4470-4C68-9410-77759CC6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7165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2F3"/>
                </a:solidFill>
              </a:defRPr>
            </a:pPr>
            <a:r>
              <a:rPr sz="1125" b="1">
                <a:solidFill>
                  <a:srgbClr val="EDF2F3"/>
                </a:solidFill>
              </a:rPr>
              <a:t>战术行动</a:t>
            </a:r>
          </a:p>
        </p:txBody>
      </p:sp>
      <p:sp>
        <p:nvSpPr>
          <p:cNvPr id="15" name="node-2">
            <a:extLst xmlns:a="http://schemas.openxmlformats.org/drawingml/2006/main">
              <a:ext uri="{FF2B5EF4-FFF2-40B4-BE49-F238E27FC236}">
                <a16:creationId xmlns:a16="http://schemas.microsoft.com/office/drawing/2014/main" id="{279A744E-2E64-4780-90BA-7264A063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10286BB-FCE8-482E-9BA4-AD70A3B8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67275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2F3"/>
                </a:solidFill>
              </a:defRPr>
            </a:pPr>
            <a:r>
              <a:rPr sz="1125" b="1">
                <a:solidFill>
                  <a:srgbClr val="EDF2F3"/>
                </a:solidFill>
              </a:rPr>
              <a:t>物资保障</a:t>
            </a:r>
          </a:p>
        </p:txBody>
      </p:sp>
      <p:sp>
        <p:nvSpPr>
          <p:cNvPr id="17" name="node-3">
            <a:extLst xmlns:a="http://schemas.openxmlformats.org/drawingml/2006/main">
              <a:ext uri="{FF2B5EF4-FFF2-40B4-BE49-F238E27FC236}">
                <a16:creationId xmlns:a16="http://schemas.microsoft.com/office/drawing/2014/main" id="{5818BA1C-BE45-4A14-98BE-755C8DC1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F6E3F342-62E4-4D0E-B799-BE7BB7AE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57775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DF2F3"/>
                </a:solidFill>
              </a:defRPr>
            </a:pPr>
            <a:r>
              <a:rPr sz="1125" b="1">
                <a:solidFill>
                  <a:srgbClr val="EDF2F3"/>
                </a:solidFill>
              </a:rPr>
              <a:t>外交协调</a:t>
            </a:r>
          </a:p>
        </p:txBody>
      </p:sp>
      <p:sp>
        <p:nvSpPr>
          <p:cNvPr id="1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1FBFF8-8823-4947-9A2A-42D0AF12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C542"/>
                </a:solidFill>
              </a:defRPr>
            </a:pPr>
            <a:r>
              <a:rPr sz="1050" b="1">
                <a:solidFill>
                  <a:srgbClr val="F4C542"/>
                </a:solidFill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3261268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op-progress">
            <a:extLst xmlns:a="http://schemas.openxmlformats.org/drawingml/2006/main">
              <a:ext uri="{FF2B5EF4-FFF2-40B4-BE49-F238E27FC236}">
                <a16:creationId xmlns:a16="http://schemas.microsoft.com/office/drawing/2014/main" id="{0DFDA83F-D6F6-4C84-8CA8-0BA6081C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ile-code">
            <a:extLst xmlns:a="http://schemas.openxmlformats.org/drawingml/2006/main">
              <a:ext uri="{FF2B5EF4-FFF2-40B4-BE49-F238E27FC236}">
                <a16:creationId xmlns:a16="http://schemas.microsoft.com/office/drawing/2014/main" id="{B2E22CA1-1FCA-470D-8E90-35662249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66B"/>
                </a:solidFill>
              </a:defRPr>
            </a:pPr>
            <a:r>
              <a:rPr sz="825" b="1">
                <a:solidFill>
                  <a:srgbClr val="59666B"/>
                </a:solidFill>
              </a:rPr>
              <a:t>OPS / 04</a:t>
            </a:r>
          </a:p>
        </p:txBody>
      </p:sp>
      <p:sp>
        <p:nvSpPr>
          <p:cNvPr id="3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12348D08-7493-40B1-AFE9-A82BD438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42C6E459-A0C6-4DB4-A776-447B337C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C542"/>
                </a:solidFill>
              </a:defRPr>
            </a:pPr>
            <a:r>
              <a:rPr sz="975" b="1">
                <a:solidFill>
                  <a:srgbClr val="F4C542"/>
                </a:solidFill>
              </a:rPr>
              <a:t>TACTICAL LOOP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90A07B0-DBFD-4862-A6B9-C72C36ED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DF2F3"/>
                </a:solidFill>
              </a:defRPr>
            </a:pPr>
            <a:r>
              <a:rPr sz="3900" b="1">
                <a:solidFill>
                  <a:srgbClr val="EDF2F3"/>
                </a:solidFill>
              </a:rPr>
              <a:t>每一次部署，</a:t>
            </a:r>
          </a:p>
          <a:p xmlns:a="http://schemas.openxmlformats.org/drawingml/2006/main">
            <a:pPr algn="l">
              <a:defRPr sz="3900" b="1">
                <a:solidFill>
                  <a:srgbClr val="EDF2F3"/>
                </a:solidFill>
              </a:defRPr>
            </a:pPr>
            <a:r>
              <a:rPr sz="3900" b="1">
                <a:solidFill>
                  <a:srgbClr val="EDF2F3"/>
                </a:solidFill>
              </a:rPr>
              <a:t>都是取舍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8D2D935-6E5E-4DE0-A8B8-066B0E56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9A5A9"/>
                </a:solidFill>
              </a:defRPr>
            </a:pPr>
            <a:r>
              <a:rPr sz="1575" b="0">
                <a:solidFill>
                  <a:srgbClr val="99A5A9"/>
                </a:solidFill>
              </a:rPr>
              <a:t>先用先锋建立费用，用重装稳住路线，再以术师、狙击与医疗形成输出和续航。撤退时机、技能窗口和再部署，往往决定胜负。</a:t>
            </a:r>
          </a:p>
        </p:txBody>
      </p:sp>
      <p:sp>
        <p:nvSpPr>
          <p:cNvPr id="7" name="tile-0-0">
            <a:extLst xmlns:a="http://schemas.openxmlformats.org/drawingml/2006/main">
              <a:ext uri="{FF2B5EF4-FFF2-40B4-BE49-F238E27FC236}">
                <a16:creationId xmlns:a16="http://schemas.microsoft.com/office/drawing/2014/main" id="{DDC7D23F-50B1-41FA-85B1-92F996A8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8" name="tile-0-1">
            <a:extLst xmlns:a="http://schemas.openxmlformats.org/drawingml/2006/main">
              <a:ext uri="{FF2B5EF4-FFF2-40B4-BE49-F238E27FC236}">
                <a16:creationId xmlns:a16="http://schemas.microsoft.com/office/drawing/2014/main" id="{77F590D1-298C-485E-8311-88949C9F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8112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9" name="tile-0-2">
            <a:extLst xmlns:a="http://schemas.openxmlformats.org/drawingml/2006/main">
              <a:ext uri="{FF2B5EF4-FFF2-40B4-BE49-F238E27FC236}">
                <a16:creationId xmlns:a16="http://schemas.microsoft.com/office/drawing/2014/main" id="{D2CEF856-E441-431D-81DD-BBAAF771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38112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0" name="tile-0-3">
            <a:extLst xmlns:a="http://schemas.openxmlformats.org/drawingml/2006/main">
              <a:ext uri="{FF2B5EF4-FFF2-40B4-BE49-F238E27FC236}">
                <a16:creationId xmlns:a16="http://schemas.microsoft.com/office/drawing/2014/main" id="{0449D69A-7978-4D4D-889C-088AD19D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8112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1" name="tile-0-4">
            <a:extLst xmlns:a="http://schemas.openxmlformats.org/drawingml/2006/main">
              <a:ext uri="{FF2B5EF4-FFF2-40B4-BE49-F238E27FC236}">
                <a16:creationId xmlns:a16="http://schemas.microsoft.com/office/drawing/2014/main" id="{E5C90E8C-2F86-472C-8ED1-636A251B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38112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2" name="tile-0-5">
            <a:extLst xmlns:a="http://schemas.openxmlformats.org/drawingml/2006/main">
              <a:ext uri="{FF2B5EF4-FFF2-40B4-BE49-F238E27FC236}">
                <a16:creationId xmlns:a16="http://schemas.microsoft.com/office/drawing/2014/main" id="{D81BFCBE-0238-4A9B-9B6B-EA4045E0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8112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57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3" name="tile-0-6">
            <a:extLst xmlns:a="http://schemas.openxmlformats.org/drawingml/2006/main">
              <a:ext uri="{FF2B5EF4-FFF2-40B4-BE49-F238E27FC236}">
                <a16:creationId xmlns:a16="http://schemas.microsoft.com/office/drawing/2014/main" id="{6422C81F-D970-4DDE-B3AC-5B609A3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138112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4" name="tile-1-0">
            <a:extLst xmlns:a="http://schemas.openxmlformats.org/drawingml/2006/main">
              <a:ext uri="{FF2B5EF4-FFF2-40B4-BE49-F238E27FC236}">
                <a16:creationId xmlns:a16="http://schemas.microsoft.com/office/drawing/2014/main" id="{23B76757-FA5D-45B4-A883-215AB27A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764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5" name="tile-1-1">
            <a:extLst xmlns:a="http://schemas.openxmlformats.org/drawingml/2006/main">
              <a:ext uri="{FF2B5EF4-FFF2-40B4-BE49-F238E27FC236}">
                <a16:creationId xmlns:a16="http://schemas.microsoft.com/office/drawing/2014/main" id="{F6E5C0DF-8190-4CDA-BC3A-0605C4FD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764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6" name="tile-1-2">
            <a:extLst xmlns:a="http://schemas.openxmlformats.org/drawingml/2006/main">
              <a:ext uri="{FF2B5EF4-FFF2-40B4-BE49-F238E27FC236}">
                <a16:creationId xmlns:a16="http://schemas.microsoft.com/office/drawing/2014/main" id="{0C03230C-F57B-4D5C-9882-B71D38E9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764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7" name="tile-1-3">
            <a:extLst xmlns:a="http://schemas.openxmlformats.org/drawingml/2006/main">
              <a:ext uri="{FF2B5EF4-FFF2-40B4-BE49-F238E27FC236}">
                <a16:creationId xmlns:a16="http://schemas.microsoft.com/office/drawing/2014/main" id="{28445872-59F7-444F-BBAD-0AAD6DA5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8" name="tile-1-4">
            <a:extLst xmlns:a="http://schemas.openxmlformats.org/drawingml/2006/main">
              <a:ext uri="{FF2B5EF4-FFF2-40B4-BE49-F238E27FC236}">
                <a16:creationId xmlns:a16="http://schemas.microsoft.com/office/drawing/2014/main" id="{3DE95C1F-1E21-42C4-9FB0-EC6AB604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764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9" name="tile-1-5">
            <a:extLst xmlns:a="http://schemas.openxmlformats.org/drawingml/2006/main">
              <a:ext uri="{FF2B5EF4-FFF2-40B4-BE49-F238E27FC236}">
                <a16:creationId xmlns:a16="http://schemas.microsoft.com/office/drawing/2014/main" id="{F59DB2B7-A959-46DD-879D-99609EC0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764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57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20" name="tile-1-6">
            <a:extLst xmlns:a="http://schemas.openxmlformats.org/drawingml/2006/main">
              <a:ext uri="{FF2B5EF4-FFF2-40B4-BE49-F238E27FC236}">
                <a16:creationId xmlns:a16="http://schemas.microsoft.com/office/drawing/2014/main" id="{A2A1433C-DDC7-4E6B-9372-7657D577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07645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21" name="tile-2-0">
            <a:extLst xmlns:a="http://schemas.openxmlformats.org/drawingml/2006/main">
              <a:ext uri="{FF2B5EF4-FFF2-40B4-BE49-F238E27FC236}">
                <a16:creationId xmlns:a16="http://schemas.microsoft.com/office/drawing/2014/main" id="{D5F695D4-7098-45DE-AFAA-07E45C28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717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22" name="tile-2-1">
            <a:extLst xmlns:a="http://schemas.openxmlformats.org/drawingml/2006/main">
              <a:ext uri="{FF2B5EF4-FFF2-40B4-BE49-F238E27FC236}">
                <a16:creationId xmlns:a16="http://schemas.microsoft.com/office/drawing/2014/main" id="{237C4F51-6455-4165-8CB3-32789D19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717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23" name="tile-2-2">
            <a:extLst xmlns:a="http://schemas.openxmlformats.org/drawingml/2006/main">
              <a:ext uri="{FF2B5EF4-FFF2-40B4-BE49-F238E27FC236}">
                <a16:creationId xmlns:a16="http://schemas.microsoft.com/office/drawing/2014/main" id="{423A46C2-CA75-4B95-8B5D-33CC6886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7717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24" name="tile-2-3">
            <a:extLst xmlns:a="http://schemas.openxmlformats.org/drawingml/2006/main">
              <a:ext uri="{FF2B5EF4-FFF2-40B4-BE49-F238E27FC236}">
                <a16:creationId xmlns:a16="http://schemas.microsoft.com/office/drawing/2014/main" id="{2C9DB04D-7892-408C-B036-C4B33094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717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25" name="tile-2-4">
            <a:extLst xmlns:a="http://schemas.openxmlformats.org/drawingml/2006/main">
              <a:ext uri="{FF2B5EF4-FFF2-40B4-BE49-F238E27FC236}">
                <a16:creationId xmlns:a16="http://schemas.microsoft.com/office/drawing/2014/main" id="{849978FD-FE1D-4D76-806F-F1EF831B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7717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26" name="tile-2-5">
            <a:extLst xmlns:a="http://schemas.openxmlformats.org/drawingml/2006/main">
              <a:ext uri="{FF2B5EF4-FFF2-40B4-BE49-F238E27FC236}">
                <a16:creationId xmlns:a16="http://schemas.microsoft.com/office/drawing/2014/main" id="{33D0C57B-BA2D-4CC0-8A45-8EFDD236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717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D57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27" name="tile-2-6">
            <a:extLst xmlns:a="http://schemas.openxmlformats.org/drawingml/2006/main">
              <a:ext uri="{FF2B5EF4-FFF2-40B4-BE49-F238E27FC236}">
                <a16:creationId xmlns:a16="http://schemas.microsoft.com/office/drawing/2014/main" id="{5EDF913F-A67D-4CDA-ACF6-953E4425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7717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28" name="tile-3-0">
            <a:extLst xmlns:a="http://schemas.openxmlformats.org/drawingml/2006/main">
              <a:ext uri="{FF2B5EF4-FFF2-40B4-BE49-F238E27FC236}">
                <a16:creationId xmlns:a16="http://schemas.microsoft.com/office/drawing/2014/main" id="{8FEEA5C0-A86D-44CF-930D-1CD9DF83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671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29" name="tile-3-1">
            <a:extLst xmlns:a="http://schemas.openxmlformats.org/drawingml/2006/main">
              <a:ext uri="{FF2B5EF4-FFF2-40B4-BE49-F238E27FC236}">
                <a16:creationId xmlns:a16="http://schemas.microsoft.com/office/drawing/2014/main" id="{EBE7BC72-17EC-4B46-9BBB-7330F748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671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30" name="tile-3-2">
            <a:extLst xmlns:a="http://schemas.openxmlformats.org/drawingml/2006/main">
              <a:ext uri="{FF2B5EF4-FFF2-40B4-BE49-F238E27FC236}">
                <a16:creationId xmlns:a16="http://schemas.microsoft.com/office/drawing/2014/main" id="{2F9A9891-7A02-4977-B87A-29FA300A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4671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31" name="tile-3-3">
            <a:extLst xmlns:a="http://schemas.openxmlformats.org/drawingml/2006/main">
              <a:ext uri="{FF2B5EF4-FFF2-40B4-BE49-F238E27FC236}">
                <a16:creationId xmlns:a16="http://schemas.microsoft.com/office/drawing/2014/main" id="{FEE1B986-D420-4BDA-9051-382A6758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32" name="tile-3-4">
            <a:extLst xmlns:a="http://schemas.openxmlformats.org/drawingml/2006/main">
              <a:ext uri="{FF2B5EF4-FFF2-40B4-BE49-F238E27FC236}">
                <a16:creationId xmlns:a16="http://schemas.microsoft.com/office/drawing/2014/main" id="{ACE08FCF-A3E3-474A-A04E-D6D838D9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671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33" name="tile-3-5">
            <a:extLst xmlns:a="http://schemas.openxmlformats.org/drawingml/2006/main">
              <a:ext uri="{FF2B5EF4-FFF2-40B4-BE49-F238E27FC236}">
                <a16:creationId xmlns:a16="http://schemas.microsoft.com/office/drawing/2014/main" id="{E7679BDD-2649-40A3-B21D-0A300FCA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671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34" name="tile-3-6">
            <a:extLst xmlns:a="http://schemas.openxmlformats.org/drawingml/2006/main">
              <a:ext uri="{FF2B5EF4-FFF2-40B4-BE49-F238E27FC236}">
                <a16:creationId xmlns:a16="http://schemas.microsoft.com/office/drawing/2014/main" id="{5F30008C-6A92-46C1-A1E1-52095C93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467100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35" name="tile-4-0">
            <a:extLst xmlns:a="http://schemas.openxmlformats.org/drawingml/2006/main">
              <a:ext uri="{FF2B5EF4-FFF2-40B4-BE49-F238E27FC236}">
                <a16:creationId xmlns:a16="http://schemas.microsoft.com/office/drawing/2014/main" id="{90722030-4E59-464C-A132-976AEF53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6242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36" name="tile-4-1">
            <a:extLst xmlns:a="http://schemas.openxmlformats.org/drawingml/2006/main">
              <a:ext uri="{FF2B5EF4-FFF2-40B4-BE49-F238E27FC236}">
                <a16:creationId xmlns:a16="http://schemas.microsoft.com/office/drawing/2014/main" id="{91FDCDB2-408C-4B19-B3F7-9951E80C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6242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37" name="tile-4-2">
            <a:extLst xmlns:a="http://schemas.openxmlformats.org/drawingml/2006/main">
              <a:ext uri="{FF2B5EF4-FFF2-40B4-BE49-F238E27FC236}">
                <a16:creationId xmlns:a16="http://schemas.microsoft.com/office/drawing/2014/main" id="{D5D0DBA1-9540-4A65-A338-48CCA206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16242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38" name="tile-4-3">
            <a:extLst xmlns:a="http://schemas.openxmlformats.org/drawingml/2006/main">
              <a:ext uri="{FF2B5EF4-FFF2-40B4-BE49-F238E27FC236}">
                <a16:creationId xmlns:a16="http://schemas.microsoft.com/office/drawing/2014/main" id="{874BAB24-1AE8-4E4B-9AC6-6B02415C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6242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39" name="tile-4-4">
            <a:extLst xmlns:a="http://schemas.openxmlformats.org/drawingml/2006/main">
              <a:ext uri="{FF2B5EF4-FFF2-40B4-BE49-F238E27FC236}">
                <a16:creationId xmlns:a16="http://schemas.microsoft.com/office/drawing/2014/main" id="{F7297F23-BC33-486C-A1EC-EA315488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16242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40" name="tile-4-5">
            <a:extLst xmlns:a="http://schemas.openxmlformats.org/drawingml/2006/main">
              <a:ext uri="{FF2B5EF4-FFF2-40B4-BE49-F238E27FC236}">
                <a16:creationId xmlns:a16="http://schemas.microsoft.com/office/drawing/2014/main" id="{B8E67647-8C3F-4F22-8A9F-B8E55F4A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6242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328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41" name="tile-4-6">
            <a:extLst xmlns:a="http://schemas.openxmlformats.org/drawingml/2006/main">
              <a:ext uri="{FF2B5EF4-FFF2-40B4-BE49-F238E27FC236}">
                <a16:creationId xmlns:a16="http://schemas.microsoft.com/office/drawing/2014/main" id="{B365061E-29EF-4F39-8DBA-A79D7E44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16242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464A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B9AD5105-215D-4514-BC0C-0FC8579B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876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5D57"/>
                </a:solidFill>
              </a:defRPr>
            </a:pPr>
            <a:r>
              <a:rPr sz="1050" b="1">
                <a:solidFill>
                  <a:srgbClr val="FF5D57"/>
                </a:solidFill>
              </a:rPr>
              <a:t>敌方入口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79138039-829B-4C76-B440-2F6697F3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95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E3E6"/>
                </a:solidFill>
              </a:defRPr>
            </a:pPr>
            <a:r>
              <a:rPr sz="1050" b="1">
                <a:solidFill>
                  <a:srgbClr val="77E3E6"/>
                </a:solidFill>
              </a:rPr>
              <a:t>保护目标</a:t>
            </a:r>
          </a:p>
        </p:txBody>
      </p:sp>
      <p:sp>
        <p:nvSpPr>
          <p:cNvPr id="4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763C9D-6D66-4A1D-9831-522D89C8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C542"/>
                </a:solidFill>
              </a:defRPr>
            </a:pPr>
            <a:r>
              <a:rPr sz="1050" b="1">
                <a:solidFill>
                  <a:srgbClr val="F4C542"/>
                </a:solidFill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3424562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progress">
            <a:extLst xmlns:a="http://schemas.openxmlformats.org/drawingml/2006/main">
              <a:ext uri="{FF2B5EF4-FFF2-40B4-BE49-F238E27FC236}">
                <a16:creationId xmlns:a16="http://schemas.microsoft.com/office/drawing/2014/main" id="{9C8557FC-115C-4B34-ACC2-30383067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ile-code">
            <a:extLst xmlns:a="http://schemas.openxmlformats.org/drawingml/2006/main">
              <a:ext uri="{FF2B5EF4-FFF2-40B4-BE49-F238E27FC236}">
                <a16:creationId xmlns:a16="http://schemas.microsoft.com/office/drawing/2014/main" id="{78F47F14-23A2-451C-9160-D2449DF2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66B"/>
                </a:solidFill>
              </a:defRPr>
            </a:pPr>
            <a:r>
              <a:rPr sz="825" b="1">
                <a:solidFill>
                  <a:srgbClr val="59666B"/>
                </a:solidFill>
              </a:rPr>
              <a:t>OPERATORS / 05</a:t>
            </a:r>
          </a:p>
        </p:txBody>
      </p:sp>
      <p:sp>
        <p:nvSpPr>
          <p:cNvPr id="3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B9319FED-B2A2-418D-8917-5B1E362F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F151309-B761-47CC-9EEC-B8F69640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C542"/>
                </a:solidFill>
              </a:defRPr>
            </a:pPr>
            <a:r>
              <a:rPr sz="975" b="1">
                <a:solidFill>
                  <a:srgbClr val="F4C542"/>
                </a:solidFill>
              </a:rPr>
              <a:t>CLASS MATRIX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224FBE2-5CB8-46FA-A19B-403098F0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287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EDF2F3"/>
                </a:solidFill>
              </a:defRPr>
            </a:pPr>
            <a:r>
              <a:rPr sz="3375" b="1">
                <a:solidFill>
                  <a:srgbClr val="EDF2F3"/>
                </a:solidFill>
              </a:rPr>
              <a:t>八种职业，一套协作语言</a:t>
            </a:r>
          </a:p>
        </p:txBody>
      </p:sp>
      <p:sp>
        <p:nvSpPr>
          <p:cNvPr id="6" name="role-0">
            <a:extLst xmlns:a="http://schemas.openxmlformats.org/drawingml/2006/main">
              <a:ext uri="{FF2B5EF4-FFF2-40B4-BE49-F238E27FC236}">
                <a16:creationId xmlns:a16="http://schemas.microsoft.com/office/drawing/2014/main" id="{1D21B3AC-973E-45E7-99D8-BBCD8F80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2238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29F9171-E8D4-4A46-AEB1-32DEE826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955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3A3A25"/>
                </a:solidFill>
              </a:defRPr>
            </a:pPr>
            <a:r>
              <a:rPr sz="4050" b="1">
                <a:solidFill>
                  <a:srgbClr val="3A3A25"/>
                </a:solidFill>
              </a:rPr>
              <a:t>V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BD1B998-941B-417D-8138-24E711EA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289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2F3"/>
                </a:solidFill>
              </a:defRPr>
            </a:pPr>
            <a:r>
              <a:rPr sz="1725" b="1">
                <a:solidFill>
                  <a:srgbClr val="EDF2F3"/>
                </a:solidFill>
              </a:rPr>
              <a:t>先锋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3C22742-CA41-4AD4-96CA-08AF97C3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C542"/>
                </a:solidFill>
              </a:defRPr>
            </a:pPr>
            <a:r>
              <a:rPr sz="825" b="1">
                <a:solidFill>
                  <a:srgbClr val="F4C542"/>
                </a:solidFill>
              </a:rPr>
              <a:t>VANGUARD</a:t>
            </a:r>
          </a:p>
        </p:txBody>
      </p:sp>
      <p:sp>
        <p:nvSpPr>
          <p:cNvPr id="10" name="role-1">
            <a:extLst xmlns:a="http://schemas.openxmlformats.org/drawingml/2006/main">
              <a:ext uri="{FF2B5EF4-FFF2-40B4-BE49-F238E27FC236}">
                <a16:creationId xmlns:a16="http://schemas.microsoft.com/office/drawing/2014/main" id="{4FE4809F-8375-4E1B-8D9B-59A54EF9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47875"/>
            <a:ext cx="2238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AB4AEAF-9A8D-421F-AFFD-0812B3E6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3A3A25"/>
                </a:solidFill>
              </a:defRPr>
            </a:pPr>
            <a:r>
              <a:rPr sz="4050" b="1">
                <a:solidFill>
                  <a:srgbClr val="3A3A25"/>
                </a:solidFill>
              </a:rPr>
              <a:t>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F755FC7-12F3-4880-8AE0-17D9FC4D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289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2F3"/>
                </a:solidFill>
              </a:defRPr>
            </a:pPr>
            <a:r>
              <a:rPr sz="1725" b="1">
                <a:solidFill>
                  <a:srgbClr val="EDF2F3"/>
                </a:solidFill>
              </a:rPr>
              <a:t>近卫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70145C2-5DAB-4C1C-B255-501F650E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81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C542"/>
                </a:solidFill>
              </a:defRPr>
            </a:pPr>
            <a:r>
              <a:rPr sz="825" b="1">
                <a:solidFill>
                  <a:srgbClr val="F4C542"/>
                </a:solidFill>
              </a:rPr>
              <a:t>GUARD</a:t>
            </a:r>
          </a:p>
        </p:txBody>
      </p:sp>
      <p:sp>
        <p:nvSpPr>
          <p:cNvPr id="14" name="role-2">
            <a:extLst xmlns:a="http://schemas.openxmlformats.org/drawingml/2006/main">
              <a:ext uri="{FF2B5EF4-FFF2-40B4-BE49-F238E27FC236}">
                <a16:creationId xmlns:a16="http://schemas.microsoft.com/office/drawing/2014/main" id="{D11A2A00-0766-45E6-BB18-4BBD5A0D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2238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ABAF058-74AD-48E3-8875-AC7EFD04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3A3A25"/>
                </a:solidFill>
              </a:defRPr>
            </a:pPr>
            <a:r>
              <a:rPr sz="4050" b="1">
                <a:solidFill>
                  <a:srgbClr val="3A3A25"/>
                </a:solidFill>
              </a:rPr>
              <a:t>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13CB3192-50C9-418F-AA4C-133D74E5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2F3"/>
                </a:solidFill>
              </a:defRPr>
            </a:pPr>
            <a:r>
              <a:rPr sz="1725" b="1">
                <a:solidFill>
                  <a:srgbClr val="EDF2F3"/>
                </a:solidFill>
              </a:rPr>
              <a:t>重装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4A3EB09-30DB-464E-9723-491C8165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81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C542"/>
                </a:solidFill>
              </a:defRPr>
            </a:pPr>
            <a:r>
              <a:rPr sz="825" b="1">
                <a:solidFill>
                  <a:srgbClr val="F4C542"/>
                </a:solidFill>
              </a:rPr>
              <a:t>DEFENDER</a:t>
            </a:r>
          </a:p>
        </p:txBody>
      </p:sp>
      <p:sp>
        <p:nvSpPr>
          <p:cNvPr id="18" name="role-3">
            <a:extLst xmlns:a="http://schemas.openxmlformats.org/drawingml/2006/main">
              <a:ext uri="{FF2B5EF4-FFF2-40B4-BE49-F238E27FC236}">
                <a16:creationId xmlns:a16="http://schemas.microsoft.com/office/drawing/2014/main" id="{44A0A40D-96CF-4053-9385-DBB1B202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2238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245B2A3-23F2-41DE-A8D1-5AC9DBC2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9550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3A3A25"/>
                </a:solidFill>
              </a:defRPr>
            </a:pPr>
            <a:r>
              <a:rPr sz="4050" b="1">
                <a:solidFill>
                  <a:srgbClr val="3A3A25"/>
                </a:solidFill>
              </a:rPr>
              <a:t>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4080906-B1B2-44AC-892E-ABFCD08D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289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2F3"/>
                </a:solidFill>
              </a:defRPr>
            </a:pPr>
            <a:r>
              <a:rPr sz="1725" b="1">
                <a:solidFill>
                  <a:srgbClr val="EDF2F3"/>
                </a:solidFill>
              </a:rPr>
              <a:t>狙击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A753F2D-4F3D-4B57-BD0F-BD2A8B50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81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C542"/>
                </a:solidFill>
              </a:defRPr>
            </a:pPr>
            <a:r>
              <a:rPr sz="825" b="1">
                <a:solidFill>
                  <a:srgbClr val="F4C542"/>
                </a:solidFill>
              </a:rPr>
              <a:t>SNIPER</a:t>
            </a:r>
          </a:p>
        </p:txBody>
      </p:sp>
      <p:sp>
        <p:nvSpPr>
          <p:cNvPr id="22" name="role-4">
            <a:extLst xmlns:a="http://schemas.openxmlformats.org/drawingml/2006/main">
              <a:ext uri="{FF2B5EF4-FFF2-40B4-BE49-F238E27FC236}">
                <a16:creationId xmlns:a16="http://schemas.microsoft.com/office/drawing/2014/main" id="{688527CB-3E4A-46E1-889C-A4092E0A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2238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619BBD9-FA8A-4482-9C17-E4775223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0525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3A3A25"/>
                </a:solidFill>
              </a:defRPr>
            </a:pPr>
            <a:r>
              <a:rPr sz="4050" b="1">
                <a:solidFill>
                  <a:srgbClr val="3A3A25"/>
                </a:solidFill>
              </a:rPr>
              <a:t>C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BF0F3C5-788A-425F-A410-D63194AA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386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2F3"/>
                </a:solidFill>
              </a:defRPr>
            </a:pPr>
            <a:r>
              <a:rPr sz="1725" b="1">
                <a:solidFill>
                  <a:srgbClr val="EDF2F3"/>
                </a:solidFill>
              </a:rPr>
              <a:t>术师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7DDC9AA-8B09-40C8-9F8E-5643E883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C542"/>
                </a:solidFill>
              </a:defRPr>
            </a:pPr>
            <a:r>
              <a:rPr sz="825" b="1">
                <a:solidFill>
                  <a:srgbClr val="F4C542"/>
                </a:solidFill>
              </a:rPr>
              <a:t>CASTER</a:t>
            </a:r>
          </a:p>
        </p:txBody>
      </p:sp>
      <p:sp>
        <p:nvSpPr>
          <p:cNvPr id="26" name="role-5">
            <a:extLst xmlns:a="http://schemas.openxmlformats.org/drawingml/2006/main">
              <a:ext uri="{FF2B5EF4-FFF2-40B4-BE49-F238E27FC236}">
                <a16:creationId xmlns:a16="http://schemas.microsoft.com/office/drawing/2014/main" id="{441F6F05-D0FB-408E-A3B9-312D9578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2238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9A884E4-69C6-4655-BEAD-10CCE11B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0525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3A3A25"/>
                </a:solidFill>
              </a:defRPr>
            </a:pPr>
            <a:r>
              <a:rPr sz="4050" b="1">
                <a:solidFill>
                  <a:srgbClr val="3A3A25"/>
                </a:solidFill>
              </a:rPr>
              <a:t>M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765607E-09E2-4793-A59A-3D9CE534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386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2F3"/>
                </a:solidFill>
              </a:defRPr>
            </a:pPr>
            <a:r>
              <a:rPr sz="1725" b="1">
                <a:solidFill>
                  <a:srgbClr val="EDF2F3"/>
                </a:solidFill>
              </a:rPr>
              <a:t>医疗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1A7DB28C-CB51-4041-B1A5-87471C6A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91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C542"/>
                </a:solidFill>
              </a:defRPr>
            </a:pPr>
            <a:r>
              <a:rPr sz="825" b="1">
                <a:solidFill>
                  <a:srgbClr val="F4C542"/>
                </a:solidFill>
              </a:rPr>
              <a:t>MEDIC</a:t>
            </a:r>
          </a:p>
        </p:txBody>
      </p:sp>
      <p:sp>
        <p:nvSpPr>
          <p:cNvPr id="30" name="role-6">
            <a:extLst xmlns:a="http://schemas.openxmlformats.org/drawingml/2006/main">
              <a:ext uri="{FF2B5EF4-FFF2-40B4-BE49-F238E27FC236}">
                <a16:creationId xmlns:a16="http://schemas.microsoft.com/office/drawing/2014/main" id="{9D31EE32-AA6C-4EF5-8B0B-B598EF8C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2238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BDC089FC-DD3A-402F-8BD1-A0794E40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0525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3A3A25"/>
                </a:solidFill>
              </a:defRPr>
            </a:pPr>
            <a:r>
              <a:rPr sz="4050" b="1">
                <a:solidFill>
                  <a:srgbClr val="3A3A25"/>
                </a:solidFill>
              </a:rPr>
              <a:t>U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8906BAF-8480-4E5D-BC20-0C990523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386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2F3"/>
                </a:solidFill>
              </a:defRPr>
            </a:pPr>
            <a:r>
              <a:rPr sz="1725" b="1">
                <a:solidFill>
                  <a:srgbClr val="EDF2F3"/>
                </a:solidFill>
              </a:rPr>
              <a:t>辅助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7BB6415-F69F-4FB1-9468-144EC613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91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C542"/>
                </a:solidFill>
              </a:defRPr>
            </a:pPr>
            <a:r>
              <a:rPr sz="825" b="1">
                <a:solidFill>
                  <a:srgbClr val="F4C542"/>
                </a:solidFill>
              </a:rPr>
              <a:t>SUPPORTER</a:t>
            </a:r>
          </a:p>
        </p:txBody>
      </p:sp>
      <p:sp>
        <p:nvSpPr>
          <p:cNvPr id="34" name="role-7">
            <a:extLst xmlns:a="http://schemas.openxmlformats.org/drawingml/2006/main">
              <a:ext uri="{FF2B5EF4-FFF2-40B4-BE49-F238E27FC236}">
                <a16:creationId xmlns:a16="http://schemas.microsoft.com/office/drawing/2014/main" id="{9FD56F7D-B6A1-47D4-B2F2-A6F69EC5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57625"/>
            <a:ext cx="2238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B1F"/>
          </a:solidFill>
          <a:ln xmlns:a="http://schemas.openxmlformats.org/drawingml/2006/main" w="9525">
            <a:solidFill>
              <a:srgbClr val="354046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684A0D9C-27FF-4C36-824B-D84FF103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05250"/>
            <a:ext cx="57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4050" b="1">
                <a:solidFill>
                  <a:srgbClr val="3A3A25"/>
                </a:solidFill>
              </a:defRPr>
            </a:pPr>
            <a:r>
              <a:rPr sz="4050" b="1">
                <a:solidFill>
                  <a:srgbClr val="3A3A25"/>
                </a:solidFill>
              </a:rPr>
              <a:t>P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8C61B4AC-BDDC-4006-A77C-D159E824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386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DF2F3"/>
                </a:solidFill>
              </a:defRPr>
            </a:pPr>
            <a:r>
              <a:rPr sz="1725" b="1">
                <a:solidFill>
                  <a:srgbClr val="EDF2F3"/>
                </a:solidFill>
              </a:rPr>
              <a:t>特种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A898B29F-47C4-4FEB-8ED0-28783CA4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C542"/>
                </a:solidFill>
              </a:defRPr>
            </a:pPr>
            <a:r>
              <a:rPr sz="825" b="1">
                <a:solidFill>
                  <a:srgbClr val="F4C542"/>
                </a:solidFill>
              </a:rPr>
              <a:t>SPECIALIST</a:t>
            </a:r>
          </a:p>
        </p:txBody>
      </p:sp>
      <p:sp>
        <p:nvSpPr>
          <p:cNvPr id="3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3627AC-42B3-4777-A7F0-3F9A03FE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C542"/>
                </a:solidFill>
              </a:defRPr>
            </a:pPr>
            <a:r>
              <a:rPr sz="1050" b="1">
                <a:solidFill>
                  <a:srgbClr val="F4C542"/>
                </a:solidFill>
              </a:rPr>
              <a:t>06 / 08</a:t>
            </a:r>
          </a:p>
        </p:txBody>
      </p:sp>
    </p:spTree>
    <p:extLst>
      <p:ext uri="{BB962C8B-B14F-4D97-AF65-F5344CB8AC3E}">
        <p14:creationId xmlns:p14="http://schemas.microsoft.com/office/powerpoint/2010/main" val="501444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progress">
            <a:extLst xmlns:a="http://schemas.openxmlformats.org/drawingml/2006/main">
              <a:ext uri="{FF2B5EF4-FFF2-40B4-BE49-F238E27FC236}">
                <a16:creationId xmlns:a16="http://schemas.microsoft.com/office/drawing/2014/main" id="{443CE39A-EC26-4530-86EA-5105A7FC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ile-code">
            <a:extLst xmlns:a="http://schemas.openxmlformats.org/drawingml/2006/main">
              <a:ext uri="{FF2B5EF4-FFF2-40B4-BE49-F238E27FC236}">
                <a16:creationId xmlns:a16="http://schemas.microsoft.com/office/drawing/2014/main" id="{0939E82E-5427-4700-A74C-4C00A3ED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66B"/>
                </a:solidFill>
              </a:defRPr>
            </a:pPr>
            <a:r>
              <a:rPr sz="825" b="1">
                <a:solidFill>
                  <a:srgbClr val="59666B"/>
                </a:solidFill>
              </a:rPr>
              <a:t>WHY / 06</a:t>
            </a:r>
          </a:p>
        </p:txBody>
      </p:sp>
      <p:sp>
        <p:nvSpPr>
          <p:cNvPr id="3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96C0132E-9DEF-41E9-8505-7366C74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CEBB50B0-D935-4490-9F3C-47A89F40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C542"/>
                </a:solidFill>
              </a:defRPr>
            </a:pPr>
            <a:r>
              <a:rPr sz="975" b="1">
                <a:solidFill>
                  <a:srgbClr val="F4C542"/>
                </a:solidFill>
              </a:rPr>
              <a:t>PLAYER EXPERIENCE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4A11E2-9696-45E3-BFA7-11857314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DF2F3"/>
                </a:solidFill>
              </a:defRPr>
            </a:pPr>
            <a:r>
              <a:rPr sz="3900" b="1">
                <a:solidFill>
                  <a:srgbClr val="EDF2F3"/>
                </a:solidFill>
              </a:rPr>
              <a:t>为什么它让人</a:t>
            </a:r>
          </a:p>
          <a:p xmlns:a="http://schemas.openxmlformats.org/drawingml/2006/main">
            <a:pPr algn="l">
              <a:defRPr sz="3900" b="1">
                <a:solidFill>
                  <a:srgbClr val="EDF2F3"/>
                </a:solidFill>
              </a:defRPr>
            </a:pPr>
            <a:r>
              <a:rPr sz="3900" b="1">
                <a:solidFill>
                  <a:srgbClr val="EDF2F3"/>
                </a:solidFill>
              </a:rPr>
              <a:t>持续回到泰拉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BBA8881-C5CE-4721-87E0-8E1BAFEF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9A5A9"/>
                </a:solidFill>
              </a:defRPr>
            </a:pPr>
            <a:r>
              <a:rPr sz="1575" b="0">
                <a:solidFill>
                  <a:srgbClr val="99A5A9"/>
                </a:solidFill>
              </a:rPr>
              <a:t>“看懂规则后的聪明”与“认识角色后的共情”叠加在一起：既有策略游戏的解题快感，也有长篇故事的余韵。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1722986-2DB3-40CD-B094-94F0E2D3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2F3"/>
                </a:solidFill>
              </a:defRPr>
            </a:pPr>
            <a:r>
              <a:rPr sz="1500" b="1">
                <a:solidFill>
                  <a:srgbClr val="EDF2F3"/>
                </a:solidFill>
              </a:rPr>
              <a:t>策略解题</a:t>
            </a:r>
          </a:p>
        </p:txBody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0EF29104-EAF9-459A-8B92-A52F596A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57325"/>
            <a:ext cx="2952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">
            <a:extLst xmlns:a="http://schemas.openxmlformats.org/drawingml/2006/main">
              <a:ext uri="{FF2B5EF4-FFF2-40B4-BE49-F238E27FC236}">
                <a16:creationId xmlns:a16="http://schemas.microsoft.com/office/drawing/2014/main" id="{5C68FD2B-ABF6-4EB9-919D-CC33A729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57325"/>
            <a:ext cx="2381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E3CF917-EE85-4C1B-BA78-AE4E258B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049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A5A9"/>
                </a:solidFill>
              </a:defRPr>
            </a:pPr>
            <a:r>
              <a:rPr sz="1050" b="0">
                <a:solidFill>
                  <a:srgbClr val="99A5A9"/>
                </a:solidFill>
              </a:rPr>
              <a:t>部署与技能窗口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14A6DEC-90D2-48CE-8DFD-2EDD069E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2F3"/>
                </a:solidFill>
              </a:defRPr>
            </a:pPr>
            <a:r>
              <a:rPr sz="1500" b="1">
                <a:solidFill>
                  <a:srgbClr val="EDF2F3"/>
                </a:solidFill>
              </a:rPr>
              <a:t>视觉语言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C730AD5C-220F-47E0-AD5C-62C39007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2952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C4A6A020-327F-456F-8F88-F8A8E13F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22669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ACCFF51-5E7F-41DB-9E66-3C16387E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A5A9"/>
                </a:solidFill>
              </a:defRPr>
            </a:pPr>
            <a:r>
              <a:rPr sz="1050" b="0">
                <a:solidFill>
                  <a:srgbClr val="99A5A9"/>
                </a:solidFill>
              </a:rPr>
              <a:t>工业感与角色设计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395F0F7-0239-49DC-9388-FD71C18E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81375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2F3"/>
                </a:solidFill>
              </a:defRPr>
            </a:pPr>
            <a:r>
              <a:rPr sz="1500" b="1">
                <a:solidFill>
                  <a:srgbClr val="EDF2F3"/>
                </a:solidFill>
              </a:rPr>
              <a:t>音乐氛围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B7C2D628-31FC-4169-9BBC-67762485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57575"/>
            <a:ext cx="2952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83F14D81-80B6-4EC5-9228-5016547B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57575"/>
            <a:ext cx="21526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2929ABA-3DC0-41BE-9F89-19427B2D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A5A9"/>
                </a:solidFill>
              </a:defRPr>
            </a:pPr>
            <a:r>
              <a:rPr sz="1050" b="0">
                <a:solidFill>
                  <a:srgbClr val="99A5A9"/>
                </a:solidFill>
              </a:rPr>
              <a:t>多风格塑造地域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82FA822-C90E-4191-81D4-C98D24CF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DF2F3"/>
                </a:solidFill>
              </a:defRPr>
            </a:pPr>
            <a:r>
              <a:rPr sz="1500" b="1">
                <a:solidFill>
                  <a:srgbClr val="EDF2F3"/>
                </a:solidFill>
              </a:rPr>
              <a:t>叙事纵深</a:t>
            </a:r>
          </a:p>
        </p:txBody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6A224155-29C2-4FF9-80EC-52901160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57700"/>
            <a:ext cx="2952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0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41C0B980-3A5A-4FE4-A18C-0CFBA35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57700"/>
            <a:ext cx="2038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ED91CE7-FA8C-46F4-B090-D155A999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A5A9"/>
                </a:solidFill>
              </a:defRPr>
            </a:pPr>
            <a:r>
              <a:rPr sz="1050" b="0">
                <a:solidFill>
                  <a:srgbClr val="99A5A9"/>
                </a:solidFill>
              </a:rPr>
              <a:t>个人命运连接文明冲突</a:t>
            </a:r>
          </a:p>
        </p:txBody>
      </p:sp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5483A4-D843-4E47-BE0A-638E540F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C542"/>
                </a:solidFill>
              </a:defRPr>
            </a:pPr>
            <a:r>
              <a:rPr sz="1050" b="1">
                <a:solidFill>
                  <a:srgbClr val="F4C542"/>
                </a:solidFill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19911074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progress">
            <a:extLst xmlns:a="http://schemas.openxmlformats.org/drawingml/2006/main">
              <a:ext uri="{FF2B5EF4-FFF2-40B4-BE49-F238E27FC236}">
                <a16:creationId xmlns:a16="http://schemas.microsoft.com/office/drawing/2014/main" id="{330D6B4C-A48E-477B-B6DD-B8A092F6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file-code">
            <a:extLst xmlns:a="http://schemas.openxmlformats.org/drawingml/2006/main">
              <a:ext uri="{FF2B5EF4-FFF2-40B4-BE49-F238E27FC236}">
                <a16:creationId xmlns:a16="http://schemas.microsoft.com/office/drawing/2014/main" id="{A47A89FA-5A0A-45C7-A4C6-4628C386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66B"/>
                </a:solidFill>
              </a:defRPr>
            </a:pPr>
            <a:r>
              <a:rPr sz="825" b="1">
                <a:solidFill>
                  <a:srgbClr val="59666B"/>
                </a:solidFill>
              </a:rPr>
              <a:t>END / 07</a:t>
            </a:r>
          </a:p>
        </p:txBody>
      </p:sp>
      <p:sp>
        <p:nvSpPr>
          <p:cNvPr id="3" name="eyebrow-rule">
            <a:extLst xmlns:a="http://schemas.openxmlformats.org/drawingml/2006/main">
              <a:ext uri="{FF2B5EF4-FFF2-40B4-BE49-F238E27FC236}">
                <a16:creationId xmlns:a16="http://schemas.microsoft.com/office/drawing/2014/main" id="{58E754C1-4884-4B5D-9752-458B938C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15E411E-1257-43F6-9627-BA27CD85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C542"/>
                </a:solidFill>
              </a:defRPr>
            </a:pPr>
            <a:r>
              <a:rPr sz="975" b="1">
                <a:solidFill>
                  <a:srgbClr val="F4C542"/>
                </a:solidFill>
              </a:rPr>
              <a:t>MISSION CONTINUES</a:t>
            </a:r>
          </a:p>
        </p:txBody>
      </p:sp>
      <p:sp>
        <p:nvSpPr>
          <p:cNvPr id="5" name="closing-quote">
            <a:extLst xmlns:a="http://schemas.openxmlformats.org/drawingml/2006/main">
              <a:ext uri="{FF2B5EF4-FFF2-40B4-BE49-F238E27FC236}">
                <a16:creationId xmlns:a16="http://schemas.microsoft.com/office/drawing/2014/main" id="{50E27044-5858-4C9E-A286-144D7D90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66875"/>
            <a:ext cx="895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EDF2F3"/>
                </a:solidFill>
              </a:defRPr>
            </a:pPr>
            <a:r>
              <a:rPr sz="3600" b="1">
                <a:solidFill>
                  <a:srgbClr val="EDF2F3"/>
                </a:solidFill>
              </a:rPr>
              <a:t>愿你在漫长的黑夜里，</a:t>
            </a:r>
          </a:p>
          <a:p xmlns:a="http://schemas.openxmlformats.org/drawingml/2006/main">
            <a:pPr algn="ctr">
              <a:defRPr sz="3600" b="1">
                <a:solidFill>
                  <a:srgbClr val="EDF2F3"/>
                </a:solidFill>
              </a:defRPr>
            </a:pPr>
            <a:r>
              <a:rPr sz="3600" b="1">
                <a:solidFill>
                  <a:srgbClr val="EDF2F3"/>
                </a:solidFill>
              </a:rPr>
              <a:t>仍能看见选择的重量。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18DD8F-7193-4CFE-9682-B24C3611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671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99A5A9"/>
                </a:solidFill>
              </a:defRPr>
            </a:pPr>
            <a:r>
              <a:rPr sz="1650" b="0">
                <a:solidFill>
                  <a:srgbClr val="99A5A9"/>
                </a:solidFill>
              </a:rPr>
              <a:t>博士，下一项行动已经准备就绪。</a:t>
            </a:r>
          </a:p>
        </p:txBody>
      </p:sp>
      <p:sp>
        <p:nvSpPr>
          <p:cNvPr id="7" name="action-seal">
            <a:extLst xmlns:a="http://schemas.openxmlformats.org/drawingml/2006/main">
              <a:ext uri="{FF2B5EF4-FFF2-40B4-BE49-F238E27FC236}">
                <a16:creationId xmlns:a16="http://schemas.microsoft.com/office/drawing/2014/main" id="{46A34F0E-327C-40B0-B481-F5694196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24375"/>
            <a:ext cx="1809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4C542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F8122EC-C284-42CE-A704-7D5F4123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577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C542"/>
                </a:solidFill>
              </a:defRPr>
            </a:pPr>
            <a:r>
              <a:rPr sz="1875" b="1">
                <a:solidFill>
                  <a:srgbClr val="F4C542"/>
                </a:solidFill>
              </a:rPr>
              <a:t>行动</a:t>
            </a:r>
          </a:p>
          <a:p xmlns:a="http://schemas.openxmlformats.org/drawingml/2006/main">
            <a:pPr algn="ctr">
              <a:defRPr sz="1875" b="1">
                <a:solidFill>
                  <a:srgbClr val="F4C542"/>
                </a:solidFill>
              </a:defRPr>
            </a:pPr>
            <a:r>
              <a:rPr sz="1875" b="1">
                <a:solidFill>
                  <a:srgbClr val="F4C542"/>
                </a:solidFill>
              </a:rPr>
              <a:t>开始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53FE59-2309-4F6D-89DC-15CD446B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2865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C542"/>
                </a:solidFill>
              </a:defRPr>
            </a:pPr>
            <a:r>
              <a:rPr sz="1050" b="1">
                <a:solidFill>
                  <a:srgbClr val="F4C542"/>
                </a:solidFill>
              </a:rPr>
              <a:t>08 / 08</a:t>
            </a:r>
          </a:p>
        </p:txBody>
      </p:sp>
    </p:spTree>
    <p:extLst>
      <p:ext uri="{BB962C8B-B14F-4D97-AF65-F5344CB8AC3E}">
        <p14:creationId xmlns:p14="http://schemas.microsoft.com/office/powerpoint/2010/main" val="908161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2026-07-21T06:59:33.9760000Z</dcterms:created>
  <dcterms:modified xsi:type="dcterms:W3CDTF">2026-07-21T06:59:33.9760000Z</dcterms:modified>
</coreProperties>
</file>